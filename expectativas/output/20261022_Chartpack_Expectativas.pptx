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rt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0" y="127000"/>
            <a:ext cx="11912600" cy="6604000"/>
          </a:xfrm>
          <a:prstGeom prst="rect">
            <a:avLst/>
          </a:prstGeom>
        </p:spPr>
      </p:pic>
      <p:pic>
        <p:nvPicPr>
          <p:cNvPr id="3" name="Picture 2" descr="logo_port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5100" y="114300"/>
            <a:ext cx="1473200" cy="1841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72500" y="2946400"/>
            <a:ext cx="3302000" cy="1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>
                <a:solidFill>
                  <a:srgbClr val="EC0000"/>
                </a:solidFill>
                <a:latin typeface="Calibri"/>
              </a:rPr>
              <a:t>Estudios</a:t>
            </a:r>
          </a:p>
          <a:p>
            <a:pPr algn="l"/>
            <a:r>
              <a:rPr sz="3600" b="0">
                <a:solidFill>
                  <a:srgbClr val="EC0000"/>
                </a:solidFill>
                <a:latin typeface="Calibri"/>
              </a:rPr>
              <a:t>Económicos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47100" y="4235450"/>
            <a:ext cx="2679700" cy="127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23300" y="4305300"/>
            <a:ext cx="2540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C0000"/>
                </a:solidFill>
                <a:latin typeface="Calibri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9700"/>
            <a:ext cx="10414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EC0000"/>
                </a:solidFill>
                <a:latin typeface="Calibri"/>
              </a:rPr>
              <a:t>IMCE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69900" y="723900"/>
            <a:ext cx="10845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7000" y="0"/>
            <a:ext cx="431800" cy="558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0700" y="6292850"/>
            <a:ext cx="111506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8800" y="6413500"/>
            <a:ext cx="508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Fuente: Banco Central de Chile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02400"/>
            <a:ext cx="5334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7F7F7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800" y="1231900"/>
            <a:ext cx="55118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IMCE: Indicador de Precios</a:t>
            </a:r>
          </a:p>
        </p:txBody>
      </p:sp>
      <p:pic>
        <p:nvPicPr>
          <p:cNvPr id="9" name="Picture 8" descr="02a_imce_prec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79600"/>
            <a:ext cx="5511800" cy="436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13500" y="1231900"/>
            <a:ext cx="5461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IMCE: Indicador de Costos</a:t>
            </a:r>
          </a:p>
        </p:txBody>
      </p:sp>
      <p:pic>
        <p:nvPicPr>
          <p:cNvPr id="11" name="Picture 10" descr="02b_imce_cos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1900" y="1879600"/>
            <a:ext cx="5461000" cy="4368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9700"/>
            <a:ext cx="10414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EC0000"/>
                </a:solidFill>
                <a:latin typeface="Calibri"/>
              </a:rPr>
              <a:t>Expectativas de Inflación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469900" y="723900"/>
            <a:ext cx="10845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7000" y="0"/>
            <a:ext cx="431800" cy="558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0700" y="6292850"/>
            <a:ext cx="111506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8800" y="6413500"/>
            <a:ext cx="508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Fuente: Banco Central de Chile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02400"/>
            <a:ext cx="5334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7F7F7F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800" y="1231900"/>
            <a:ext cx="55118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Mediana EEE 1 y 2 años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(Var. anual, %)</a:t>
            </a:r>
          </a:p>
        </p:txBody>
      </p:sp>
      <p:pic>
        <p:nvPicPr>
          <p:cNvPr id="9" name="Picture 8" descr="03a_eee_infl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79600"/>
            <a:ext cx="5511800" cy="436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13500" y="1231900"/>
            <a:ext cx="5461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Mediana EOF 1 y 2 años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(Var. anual, %)</a:t>
            </a:r>
          </a:p>
        </p:txBody>
      </p:sp>
      <p:pic>
        <p:nvPicPr>
          <p:cNvPr id="11" name="Picture 10" descr="03b_eof_infla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1900" y="1879600"/>
            <a:ext cx="5461000" cy="436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9700"/>
            <a:ext cx="10414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EC0000"/>
                </a:solidFill>
                <a:latin typeface="Calibri"/>
              </a:rPr>
              <a:t>Compensación Inflacionaria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69900" y="723900"/>
            <a:ext cx="10845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7000" y="0"/>
            <a:ext cx="431800" cy="558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0700" y="6292850"/>
            <a:ext cx="111506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8800" y="6413500"/>
            <a:ext cx="508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Fuente: Banco Central de Chile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02400"/>
            <a:ext cx="5334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7F7F7F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800" y="1231900"/>
            <a:ext cx="55118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Compensaciones inflacionarias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(Var. Anual, %)</a:t>
            </a:r>
          </a:p>
        </p:txBody>
      </p:sp>
      <p:pic>
        <p:nvPicPr>
          <p:cNvPr id="9" name="Picture 8" descr="04a_compens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79600"/>
            <a:ext cx="5511800" cy="436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13500" y="1231900"/>
            <a:ext cx="5461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Compensación inflacionaria 1 en 1: Swap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(%)</a:t>
            </a:r>
          </a:p>
        </p:txBody>
      </p:sp>
      <p:pic>
        <p:nvPicPr>
          <p:cNvPr id="11" name="Picture 10" descr="04b_swap_1e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1900" y="1879600"/>
            <a:ext cx="5461000" cy="436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9700"/>
            <a:ext cx="10414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EC0000"/>
                </a:solidFill>
                <a:latin typeface="Calibri"/>
              </a:rPr>
              <a:t>EDEP</a:t>
            </a:r>
          </a:p>
        </p:txBody>
      </p:sp>
      <p:sp>
        <p:nvSpPr>
          <p:cNvPr id="3" name="Rectangle 2"/>
          <p:cNvSpPr/>
          <p:nvPr/>
        </p:nvSpPr>
        <p:spPr>
          <a:xfrm>
            <a:off x="469900" y="723900"/>
            <a:ext cx="10845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7000" y="0"/>
            <a:ext cx="431800" cy="558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0700" y="6292850"/>
            <a:ext cx="111506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8800" y="6413500"/>
            <a:ext cx="508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Fuente: Banco Central de Chile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02400"/>
            <a:ext cx="5334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7F7F7F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1900"/>
            <a:ext cx="3810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EDEP: Evolución costos de la empresa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(índice de difusión)</a:t>
            </a:r>
          </a:p>
        </p:txBody>
      </p:sp>
      <p:pic>
        <p:nvPicPr>
          <p:cNvPr id="9" name="Picture 8" descr="05a_edep_cos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" y="1879600"/>
            <a:ext cx="3810000" cy="436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19600" y="1231900"/>
            <a:ext cx="3810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EDEP: Influencia sobre precio de venta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(índice de difusión)</a:t>
            </a:r>
          </a:p>
        </p:txBody>
      </p:sp>
      <p:pic>
        <p:nvPicPr>
          <p:cNvPr id="11" name="Picture 10" descr="05b_edep_influe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200" y="1879600"/>
            <a:ext cx="3810000" cy="4368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82000" y="1231900"/>
            <a:ext cx="3810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EPN: Evolución de los costos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(índice de difusión, percepción evolución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últimos 3 meses)</a:t>
            </a:r>
          </a:p>
        </p:txBody>
      </p:sp>
      <p:pic>
        <p:nvPicPr>
          <p:cNvPr id="13" name="Picture 12" descr="05c_epn_cost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4200" y="1879600"/>
            <a:ext cx="3810000" cy="436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9700"/>
            <a:ext cx="10414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EC0000"/>
                </a:solidFill>
                <a:latin typeface="Calibri"/>
              </a:rPr>
              <a:t>IMCE, EDEP y Costos de transporte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69900" y="723900"/>
            <a:ext cx="10845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7000" y="0"/>
            <a:ext cx="431800" cy="558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0700" y="6292850"/>
            <a:ext cx="111506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8800" y="6413500"/>
            <a:ext cx="508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Fuente: Banco Central de Chile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02400"/>
            <a:ext cx="5334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7F7F7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800" y="1231900"/>
            <a:ext cx="55118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EDEP: Expectativas de Inflación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(Var. Anual, %)</a:t>
            </a:r>
          </a:p>
        </p:txBody>
      </p:sp>
      <p:pic>
        <p:nvPicPr>
          <p:cNvPr id="9" name="Picture 8" descr="06a_edep_infl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79600"/>
            <a:ext cx="5511800" cy="436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13500" y="1231900"/>
            <a:ext cx="5461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Costos de transporte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(desviación estándar del valor promedio)</a:t>
            </a:r>
          </a:p>
        </p:txBody>
      </p:sp>
      <p:pic>
        <p:nvPicPr>
          <p:cNvPr id="11" name="Picture 10" descr="06b_gsc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1900" y="1879600"/>
            <a:ext cx="5461000" cy="4368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13500" y="6438900"/>
            <a:ext cx="508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Fuente: Reserva Federal de Nueva York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9700"/>
            <a:ext cx="10414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EC0000"/>
                </a:solidFill>
                <a:latin typeface="Calibri"/>
              </a:rPr>
              <a:t>TCN TCM</a:t>
            </a:r>
          </a:p>
        </p:txBody>
      </p:sp>
      <p:sp>
        <p:nvSpPr>
          <p:cNvPr id="3" name="Rectangle 2"/>
          <p:cNvSpPr/>
          <p:nvPr/>
        </p:nvSpPr>
        <p:spPr>
          <a:xfrm>
            <a:off x="469900" y="723900"/>
            <a:ext cx="10845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7000" y="0"/>
            <a:ext cx="431800" cy="558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0700" y="6292850"/>
            <a:ext cx="111506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8800" y="6413500"/>
            <a:ext cx="508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Fuente: Banco Central de Chile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02400"/>
            <a:ext cx="5334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7F7F7F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800" y="1231900"/>
            <a:ext cx="113284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Tipo de cambio nominal spread Tipo de cambio multilateral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(Pesos chilenos) (Índice)</a:t>
            </a:r>
          </a:p>
        </p:txBody>
      </p:sp>
      <p:pic>
        <p:nvPicPr>
          <p:cNvPr id="9" name="Picture 8" descr="07_tcn_t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879600"/>
            <a:ext cx="11328400" cy="436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9700"/>
            <a:ext cx="10414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EC0000"/>
                </a:solidFill>
                <a:latin typeface="Calibri"/>
              </a:rPr>
              <a:t>Tasas SPC</a:t>
            </a:r>
          </a:p>
        </p:txBody>
      </p:sp>
      <p:sp>
        <p:nvSpPr>
          <p:cNvPr id="3" name="Rectangle 2"/>
          <p:cNvSpPr/>
          <p:nvPr/>
        </p:nvSpPr>
        <p:spPr>
          <a:xfrm>
            <a:off x="469900" y="723900"/>
            <a:ext cx="10845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7000" y="0"/>
            <a:ext cx="431800" cy="558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0700" y="6292850"/>
            <a:ext cx="111506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8800" y="6413500"/>
            <a:ext cx="508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Fuente: Banco Central de Chile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02400"/>
            <a:ext cx="5334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7F7F7F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800" y="1231900"/>
            <a:ext cx="55118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SPC pesos: 1 y 2 años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(%)</a:t>
            </a:r>
          </a:p>
        </p:txBody>
      </p:sp>
      <p:pic>
        <p:nvPicPr>
          <p:cNvPr id="9" name="Picture 8" descr="08a_spc_pes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79600"/>
            <a:ext cx="5511800" cy="436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13500" y="1231900"/>
            <a:ext cx="5461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SPC UF 1 y 2 años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(%)</a:t>
            </a:r>
          </a:p>
        </p:txBody>
      </p:sp>
      <p:pic>
        <p:nvPicPr>
          <p:cNvPr id="11" name="Picture 10" descr="08b_spc_u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1900" y="1879600"/>
            <a:ext cx="5461000" cy="436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9700"/>
            <a:ext cx="10414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EC0000"/>
                </a:solidFill>
                <a:latin typeface="Calibri"/>
              </a:rPr>
              <a:t>EEE</a:t>
            </a:r>
          </a:p>
        </p:txBody>
      </p:sp>
      <p:sp>
        <p:nvSpPr>
          <p:cNvPr id="3" name="Rectangle 2"/>
          <p:cNvSpPr/>
          <p:nvPr/>
        </p:nvSpPr>
        <p:spPr>
          <a:xfrm>
            <a:off x="469900" y="723900"/>
            <a:ext cx="10845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7000" y="0"/>
            <a:ext cx="431800" cy="558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0700" y="6292850"/>
            <a:ext cx="111506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8800" y="6413500"/>
            <a:ext cx="508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Fuente: Banco Central de Chile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02400"/>
            <a:ext cx="5334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7F7F7F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1900"/>
            <a:ext cx="3810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Expectativas de PIB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(Var. Anual, %)</a:t>
            </a:r>
          </a:p>
        </p:txBody>
      </p:sp>
      <p:pic>
        <p:nvPicPr>
          <p:cNvPr id="9" name="Picture 8" descr="09a_eee_pi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" y="1879600"/>
            <a:ext cx="3810000" cy="436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19600" y="1231900"/>
            <a:ext cx="3810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Expectativas de Consumo de los hogares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(Var. Anual, %)</a:t>
            </a:r>
          </a:p>
        </p:txBody>
      </p:sp>
      <p:pic>
        <p:nvPicPr>
          <p:cNvPr id="11" name="Picture 10" descr="09b_eee_ch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200" y="1879600"/>
            <a:ext cx="3810000" cy="4368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82000" y="1231900"/>
            <a:ext cx="3810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Expectativas FBCF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(Var. Anual, %)</a:t>
            </a:r>
          </a:p>
        </p:txBody>
      </p:sp>
      <p:pic>
        <p:nvPicPr>
          <p:cNvPr id="13" name="Picture 12" descr="09c_eee_fbk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4200" y="1879600"/>
            <a:ext cx="3810000" cy="436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9700"/>
            <a:ext cx="10414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EC0000"/>
                </a:solidFill>
                <a:latin typeface="Calibri"/>
              </a:rPr>
              <a:t>Imce expectativas v/s Imacec no minero</a:t>
            </a:r>
          </a:p>
        </p:txBody>
      </p:sp>
      <p:sp>
        <p:nvSpPr>
          <p:cNvPr id="3" name="Rectangle 2"/>
          <p:cNvSpPr/>
          <p:nvPr/>
        </p:nvSpPr>
        <p:spPr>
          <a:xfrm>
            <a:off x="469900" y="723900"/>
            <a:ext cx="10845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7000" y="0"/>
            <a:ext cx="431800" cy="558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0700" y="6292850"/>
            <a:ext cx="111506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8800" y="6413500"/>
            <a:ext cx="508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Fuente: Banco Central de Chile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02400"/>
            <a:ext cx="5334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7F7F7F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800" y="1231900"/>
            <a:ext cx="113284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Imce expectativas v/s Imacec no minero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(Índice) (Var. Trimestral a/a)</a:t>
            </a:r>
          </a:p>
        </p:txBody>
      </p:sp>
      <p:pic>
        <p:nvPicPr>
          <p:cNvPr id="9" name="Picture 8" descr="10_imce_imac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879600"/>
            <a:ext cx="11328400" cy="436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